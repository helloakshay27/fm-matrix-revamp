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Whoop</c:v>
                </c:pt>
              </c:strCache>
            </c:strRef>
          </c:tx>
          <c:spPr>
            <a:solidFill>
              <a:srgbClr val="5B64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BetterUp</c:v>
                </c:pt>
              </c:strCache>
            </c:strRef>
          </c:tx>
          <c:spPr>
            <a:solidFill>
              <a:srgbClr val="5B64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INDmoney / Walnut</c:v>
                </c:pt>
              </c:strCache>
            </c:strRef>
          </c:tx>
          <c:spPr>
            <a:solidFill>
              <a:srgbClr val="5B64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Headspace</c:v>
                </c:pt>
              </c:strCache>
            </c:strRef>
          </c:tx>
          <c:spPr>
            <a:solidFill>
              <a:srgbClr val="5B64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4.2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Life Blueprint</c:v>
                </c:pt>
              </c:strCache>
            </c:strRef>
          </c:tx>
          <c:spPr>
            <a:solidFill>
              <a:srgbClr val="5B64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6213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16213E"/>
                    </a:solidFill>
                    <a:latin typeface="Arial"/>
                  </a:rPr>
                  <a:t>Breadth of Life-Area Integration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6213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16213E"/>
                    </a:solidFill>
                    <a:latin typeface="Arial"/>
                  </a:rPr>
                  <a:t>Data Sovereignty / Trust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630000</c:v>
                </c:pt>
                <c:pt idx="1">
                  <c:v>5430000</c:v>
                </c:pt>
                <c:pt idx="2">
                  <c:v>27648000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OPEX ($)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2530000</c:v>
                </c:pt>
                <c:pt idx="1">
                  <c:v>5170000</c:v>
                </c:pt>
                <c:pt idx="2">
                  <c:v>7430000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EBITDA ($)</c:v>
                </c:pt>
              </c:strCache>
            </c:strRef>
          </c:tx>
          <c:spPr>
            <a:solidFill>
              <a:srgbClr val="16213E"/>
            </a:solidFill>
            <a:ln w="31750" cap="flat">
              <a:solidFill>
                <a:srgbClr val="1621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213E"/>
              </a:solidFill>
              <a:ln w="9525" cap="flat">
                <a:solidFill>
                  <a:srgbClr val="1621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-2050000</c:v>
                </c:pt>
                <c:pt idx="1">
                  <c:v>-240000</c:v>
                </c:pt>
                <c:pt idx="2">
                  <c:v>16760000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0000000"/>
          <c:min val="-5000000"/>
        </c:scaling>
        <c:delete val="1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213E"/>
              </a:solidFill>
              <a:effectLst/>
            </c:spPr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5B6472"/>
              </a:solidFill>
              <a:effectLst/>
            </c:spPr>
          </c:dPt>
          <c:dPt>
            <c:idx val="4"/>
            <c:bubble3D val="0"/>
            <c:spPr>
              <a:solidFill>
                <a:srgbClr val="9AA5B8"/>
              </a:solidFill>
              <a:effectLst/>
            </c:spPr>
          </c:dPt>
          <c:dPt>
            <c:idx val="5"/>
            <c:bubble3D val="0"/>
            <c:spPr>
              <a:solidFill>
                <a:srgbClr val="C7D0E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Product &amp; AI engineering</c:v>
                </c:pt>
                <c:pt idx="1">
                  <c:v>Go-to-market</c:v>
                </c:pt>
                <c:pt idx="2">
                  <c:v>Hardware R&amp;D</c:v>
                </c:pt>
                <c:pt idx="3">
                  <c:v>Team hiring</c:v>
                </c:pt>
                <c:pt idx="4">
                  <c:v>Compliance &amp; certification</c:v>
                </c:pt>
                <c:pt idx="5">
                  <c:v>Working capital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  <c:pt idx="4">
                  <c:v>5</c:v>
                </c:pt>
                <c:pt idx="5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Blueprint is an AI-powered life companion unifying career, finance, health and relationships into one data-sovereign plan. We are raising a $5M seed round. Introduce yourself and the one-line positioning before moving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compounding problems: fragmentation across life tools, a planning-to-action gap, and a data-trust deficit in the categories (finance, health) where trust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pillars — Career, Finance, Health, Relationships, Vault &amp; Legacy — run through one AI engine. The mechanism is a closed loop: plan, AI-suggested habit, consistency tracking, progress measurement, all built on a data-sovereign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module grid: Dashboard, Calendar/AI Planner, Journal, Finance, Health, Career/Blueprint, People/Community, Vault, and the Trust &amp; Privacy layer. Emphasise cross-module linkage, not module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structural differentiator no ad- or cross-sell-funded competitor can copy without abandoning their own business model. The Privacy Ledger makes the policy visible and provable, not just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TAM as every adult managing a life across six geographies, regardless of employment status — employees, founders, homemakers, students and retirees all fit. Timing tailwinds covered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headline price is a $10/month cap for premium software, with India/GCC launching at an introductory rate and stepping up as AI insights ship. Hardware adds a further $10/month once launched — a subscription-led device model, not a large upfront hardware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GTM pillars work together: community trust, celebrity equity association, university freemium, conventional digital marketing, and on-ground activation. This gives a structurally lower blended CAC than a pure paid-acquisition consumer app. Full channel-by-channel detail is in the supporting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pre-launch, no paying users yet. Compensate with the founder's operating track record and the fact the architecture is fully scoped and already in build — this is an experienced operator's next venture, not a first-time idea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competitors on breadth of integration versus data trust. Every one of them sits low on at least one axis; Life Blueprint is the only entrant scoring high on both, and the GTM model backing that position is itself hard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Immediate horizon proves the data-sovereignty claim technically. Short-term completes the closed-loop AI experience. Medium-term is the category-first hardware move — a wearable plus an always-on AI audio companion, financed through the stacking subscription.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operating discipline: an existing profitable business, an existing technical team, and a fully scoped build already in motion. This is the single biggest lever raising this above a typical idea-stage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and OPEX both scale with the GTM-driven download curve; burn narrows to near-breakeven in Year 2 and swings to strongly positive EBITDA in Year 3 once the hardware subscription attach rate and the full $10/month software cap both land. Flag this explicitly as an upside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in two tranches to de-risk the round for investors while still messaging a $5M raise externally, and to protect the founder from over-diluting before the product proves cross-life-area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personal conviction and the specific milestone this raise unlocks. Thank the room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image" Target="../media/image-11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34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4" name="Image 0" descr="/home/claude/deck/assets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BLUEPRINT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21792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life companion that brings your career, finance, health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relationships into one plan — built on data you control.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" y="466344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4663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$5M · SEED ROUND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GoPhygital Innovations Pvt. Ltd.  ·  Confidential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management is fragmented, incomplete, and untrustworthy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deck/assets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5168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lives in a different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 app, a finance app, a wellness app, a coaching app — none of them talk to each other, so no one can see how progress in one area affects another.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0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233172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1" name="Image 1" descr="/home/claude/deck/assets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006" y="25168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383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rarely turn into action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8912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goal-setting tools stop at the plan. There's no closed loop connecting a goal to a daily habit to measured progress.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80960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0" y="233172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/home/claude/deck/asset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166" y="251688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383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data is the product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5528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and wellness apps routinely monetise usage data via ads or cross-selling — creating a trust barrier exactly where trust matters most.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AI-guided plan across every part of a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12080" y="3108960"/>
            <a:ext cx="1737360" cy="17373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5" name="Image 0" descr="/home/claude/deck/assets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35204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80760" y="3977640"/>
            <a:ext cx="0" cy="-1417320"/>
          </a:xfrm>
          <a:prstGeom prst="line">
            <a:avLst/>
          </a:prstGeom>
          <a:noFill/>
          <a:ln w="19050">
            <a:solidFill>
              <a:srgbClr val="C7D0E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080760" y="3977640"/>
            <a:ext cx="1347951" cy="-437976"/>
          </a:xfrm>
          <a:prstGeom prst="line">
            <a:avLst/>
          </a:prstGeom>
          <a:noFill/>
          <a:ln w="19050">
            <a:solidFill>
              <a:srgbClr val="C7D0E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080760" y="3977640"/>
            <a:ext cx="833080" cy="1146636"/>
          </a:xfrm>
          <a:prstGeom prst="line">
            <a:avLst/>
          </a:prstGeom>
          <a:noFill/>
          <a:ln w="19050">
            <a:solidFill>
              <a:srgbClr val="C7D0E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080760" y="3977640"/>
            <a:ext cx="-833080" cy="1146636"/>
          </a:xfrm>
          <a:prstGeom prst="line">
            <a:avLst/>
          </a:prstGeom>
          <a:noFill/>
          <a:ln w="19050">
            <a:solidFill>
              <a:srgbClr val="C7D0E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080760" y="3977640"/>
            <a:ext cx="-1347951" cy="-437976"/>
          </a:xfrm>
          <a:prstGeom prst="line">
            <a:avLst/>
          </a:prstGeom>
          <a:noFill/>
          <a:ln w="19050">
            <a:solidFill>
              <a:srgbClr val="C7D0E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532120" y="2011680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/home/claude/deck/assets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860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80071" y="2991024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/home/claude/deck/assets/icon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391" y="3265344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2871" y="4134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65200" y="4575636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3" descr="/home/claude/deck/assets/icons/heartb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520" y="4849956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08000" y="57186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699040" y="4575636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2" name="Image 4" descr="/home/claude/deck/assets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360" y="4849956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41840" y="57186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184169" y="2991024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5" descr="/home/claude/deck/assets/icons/vau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489" y="3265344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726969" y="4134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&amp; Legacy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48640" y="192024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4F6FA"/>
          </a:solidFill>
          <a:ln/>
        </p:spPr>
      </p:sp>
      <p:sp>
        <p:nvSpPr>
          <p:cNvPr id="28" name="Text 20"/>
          <p:cNvSpPr/>
          <p:nvPr/>
        </p:nvSpPr>
        <p:spPr>
          <a:xfrm>
            <a:off x="8686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closed loop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868680" y="27432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2"/>
          <p:cNvSpPr/>
          <p:nvPr/>
        </p:nvSpPr>
        <p:spPr>
          <a:xfrm>
            <a:off x="8686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298448" y="26883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Vision, Mission &amp; Goals, set once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68680" y="349300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25"/>
          <p:cNvSpPr/>
          <p:nvPr/>
        </p:nvSpPr>
        <p:spPr>
          <a:xfrm>
            <a:off x="86868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298448" y="34381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habits — with the user's consent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868680" y="4242816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1298448" y="41879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tracking — daily habit &amp; journal data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68680" y="4992624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1"/>
          <p:cNvSpPr/>
          <p:nvPr/>
        </p:nvSpPr>
        <p:spPr>
          <a:xfrm>
            <a:off x="868680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298448" y="49377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measurement — visible, cross-life alignment score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253 features across 13 modules, already in active beta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deck/assets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2946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4048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alignment radar, goal &amp; habit streaks, cross-pillar summary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6712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1" name="Image 1" descr="/home/claude/deck/assets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559" y="229468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39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AI Planner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03520" y="24048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Eisenhower matrix, AI-suggested time blocks from goals + habits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6712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/home/claude/deck/assets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9" y="229468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39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098280" y="24048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reflection, mood/energy trends, letters to future self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1304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1" name="Image 3" descr="/home/claude/deck/assets/icons/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3940607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508760" y="40507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Aggregator-linked net worth, cash flow, savings goals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520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81304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6" name="Image 4" descr="/home/claude/deck/assets/icons/heartbe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559" y="394060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303520" y="40507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Targets, food/water capture, mental journey, AI action plans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520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81304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1" name="Image 5" descr="/home/claude/deck/assets/icons/bulls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319" y="3940607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&amp; Blueprint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098280" y="40507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Vision/Mission/Goals, DISC-driven SWOT, skill roadmap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166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45896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6" name="Image 6" descr="/home/claude/deck/assets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799" y="5586527"/>
            <a:ext cx="311810" cy="31181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330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Community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508760" y="5696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Relationship-health scoring, reach-out reminders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43400" y="5166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72000" y="545896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41" name="Image 7" descr="/home/claude/deck/assets/icons/vau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559" y="5586527"/>
            <a:ext cx="311810" cy="31181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03520" y="5330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303520" y="5696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Assets, insurance, legal &amp; will documents, one secure place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38160" y="5166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66760" y="5458968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46" name="Image 8" descr="/home/claude/deck/assets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4319" y="5586527"/>
            <a:ext cx="311810" cy="31181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098280" y="5330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Privacy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9098280" y="5696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ad-targeting, metadata-only AI, regional data residency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works for you. Never for advertisers.</a:t>
            </a:r>
            <a:endParaRPr lang="en-US" sz="3200" dirty="0"/>
          </a:p>
        </p:txBody>
      </p:sp>
      <p:pic>
        <p:nvPicPr>
          <p:cNvPr id="4" name="Image 0" descr="/home/claude/deck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488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939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sold or shared for advertising or marketing</a:t>
            </a:r>
            <a:endParaRPr lang="en-US" sz="1500" dirty="0"/>
          </a:p>
        </p:txBody>
      </p:sp>
      <p:pic>
        <p:nvPicPr>
          <p:cNvPr id="6" name="Image 1" descr="/home/claude/deck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26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87121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personalisation runs on metadata, not personal content</a:t>
            </a:r>
            <a:endParaRPr lang="en-US" sz="1500" dirty="0"/>
          </a:p>
        </p:txBody>
      </p:sp>
      <p:pic>
        <p:nvPicPr>
          <p:cNvPr id="8" name="Image 2" descr="/home/claude/deck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36484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your data — export or delete it anytime</a:t>
            </a:r>
            <a:endParaRPr lang="en-US" sz="1500" dirty="0"/>
          </a:p>
        </p:txBody>
      </p:sp>
      <p:pic>
        <p:nvPicPr>
          <p:cNvPr id="10" name="Image 3" descr="/home/claude/deck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8056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44256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data residency: India, GCC, UK, US, EU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7223760" y="201168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24345C"/>
          </a:solidFill>
          <a:ln/>
        </p:spPr>
      </p:sp>
      <p:sp>
        <p:nvSpPr>
          <p:cNvPr id="13" name="Text 7"/>
          <p:cNvSpPr/>
          <p:nvPr/>
        </p:nvSpPr>
        <p:spPr>
          <a:xfrm>
            <a:off x="75438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LEDGER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5438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used, for what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543800" y="320040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</p:sp>
      <p:sp>
        <p:nvSpPr>
          <p:cNvPr id="16" name="Text 10"/>
          <p:cNvSpPr/>
          <p:nvPr/>
        </p:nvSpPr>
        <p:spPr>
          <a:xfrm>
            <a:off x="7680960" y="32004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streak pattern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9601200" y="32004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Reminder timing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543800" y="3822192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</p:sp>
      <p:sp>
        <p:nvSpPr>
          <p:cNvPr id="19" name="Text 13"/>
          <p:cNvSpPr/>
          <p:nvPr/>
        </p:nvSpPr>
        <p:spPr>
          <a:xfrm>
            <a:off x="7680960" y="38221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category trend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601200" y="38221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Savings-goal nudge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543800" y="4443984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16213E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0" y="444398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Mood/energy metadata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601200" y="44439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Journal prompt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543800" y="5166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Never: raw messages, documents or biometric detail leave the metadata layer.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adult managing a life is the market — occupation-agnostic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39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0" y="213055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across India, GCC, SEA, UK, US &amp; Europe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620M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0" y="354787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Digitally-active users of at least one life-management app category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873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49651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cumulative downloads target (GTM-driven, Sheet 8)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estimates, not third-party verified market sizing.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· GCC · Southeast Asia · UK · US · Europe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880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brackets (all occupation-agnostic)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33192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— Early Builders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23760" y="37764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 — Builders &amp; Stabilisers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23760" y="42336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 — Peak Responsibility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23760" y="46908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 — Legacy &amp; Wellbeing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23760" y="51480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— Continuity Focus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software, stacking to a hardware subscription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Ad-free, forever</a:t>
            </a:r>
            <a:endParaRPr lang="en-US" sz="1100" dirty="0"/>
          </a:p>
        </p:txBody>
      </p:sp>
      <p:pic>
        <p:nvPicPr>
          <p:cNvPr id="8" name="Image 0" descr="/home/claude/deck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661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Journal, Calendar, Habit tracker</a:t>
            </a:r>
            <a:endParaRPr lang="en-US" sz="1080" dirty="0"/>
          </a:p>
        </p:txBody>
      </p:sp>
      <p:pic>
        <p:nvPicPr>
          <p:cNvPr id="10" name="Image 1" descr="/home/claude/deck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330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access</a:t>
            </a:r>
            <a:endParaRPr lang="en-US" sz="1080" dirty="0"/>
          </a:p>
        </p:txBody>
      </p:sp>
      <p:pic>
        <p:nvPicPr>
          <p:cNvPr id="12" name="Image 2" descr="/home/claude/deck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0001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4654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data-selling. Ever.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6177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Software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617720" y="24963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$10/mo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461772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AI life OS</a:t>
            </a:r>
            <a:endParaRPr lang="en-US" sz="1100" dirty="0"/>
          </a:p>
        </p:txBody>
      </p:sp>
      <p:pic>
        <p:nvPicPr>
          <p:cNvPr id="18" name="Image 3" descr="/home/claude/deck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56616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65192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(linked accounts), Health, Vault</a:t>
            </a:r>
            <a:endParaRPr lang="en-US" sz="1080" dirty="0"/>
          </a:p>
        </p:txBody>
      </p:sp>
      <p:pic>
        <p:nvPicPr>
          <p:cNvPr id="20" name="Image 4" descr="/home/claude/deck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1330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65192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cross-life insights &amp; Planner OS</a:t>
            </a:r>
            <a:endParaRPr lang="en-US" sz="1080" dirty="0"/>
          </a:p>
        </p:txBody>
      </p:sp>
      <p:pic>
        <p:nvPicPr>
          <p:cNvPr id="22" name="Image 5" descr="/home/claude/deck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70001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65192" y="4654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DISC-driven personalisation</a:t>
            </a:r>
            <a:endParaRPr lang="en-US" sz="1080" dirty="0"/>
          </a:p>
        </p:txBody>
      </p:sp>
      <p:sp>
        <p:nvSpPr>
          <p:cNvPr id="24" name="Shape 16"/>
          <p:cNvSpPr/>
          <p:nvPr/>
        </p:nvSpPr>
        <p:spPr>
          <a:xfrm>
            <a:off x="813816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841248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Hardware Companion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412480" y="24963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+$10/mo</a:t>
            </a:r>
            <a:endParaRPr lang="en-US" sz="2800" dirty="0"/>
          </a:p>
        </p:txBody>
      </p:sp>
      <p:sp>
        <p:nvSpPr>
          <p:cNvPr id="27" name="Text 19"/>
          <p:cNvSpPr/>
          <p:nvPr/>
        </p:nvSpPr>
        <p:spPr>
          <a:xfrm>
            <a:off x="841248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on Premium — Year 3</a:t>
            </a:r>
            <a:endParaRPr lang="en-US" sz="1100" dirty="0"/>
          </a:p>
        </p:txBody>
      </p:sp>
      <p:pic>
        <p:nvPicPr>
          <p:cNvPr id="28" name="Image 6" descr="/home/claude/deck/assets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6616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759952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fitness tracking</a:t>
            </a:r>
            <a:endParaRPr lang="en-US" sz="1080" dirty="0"/>
          </a:p>
        </p:txBody>
      </p:sp>
      <p:pic>
        <p:nvPicPr>
          <p:cNvPr id="30" name="Image 7" descr="/home/claude/deck/assets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3308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759952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ambient AI audio companion</a:t>
            </a:r>
            <a:endParaRPr lang="en-US" sz="1080" dirty="0"/>
          </a:p>
        </p:txBody>
      </p:sp>
      <p:pic>
        <p:nvPicPr>
          <p:cNvPr id="32" name="Image 8" descr="/home/claude/deck/assets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700016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759952" y="4654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$20/mo (~$240/yr)</a:t>
            </a:r>
            <a:endParaRPr lang="en-US" sz="1080" dirty="0"/>
          </a:p>
        </p:txBody>
      </p:sp>
      <p:sp>
        <p:nvSpPr>
          <p:cNvPr id="34" name="Text 2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Trust-based distribution, not just paid acquisition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194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deck/asse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1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1089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Partnerships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6576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JITO (250K+ members) and adjacent trade/professional networks — co-branded sessions, warm distribution.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62072" y="1920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2194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1" name="Image 1" descr="/home/claude/deck/assets/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51" y="23694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31089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Celebrity Co-Branding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26664" y="36576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Grade-A equity-for-association (illustrative profile: reach of a Virat Kohli/Anushka Sharma) + mid-tier wellness influencers.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75504" y="1920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61304" y="2194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/home/claude/deck/assets/icons/grad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83" y="23694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31089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Freemium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40096" y="36576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premium access for verified students — 20-30 partner universities targeted in Year 1.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488936" y="1920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74736" y="2194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1" name="Image 3" descr="/home/claude/deck/assets/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615" y="23694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3528" y="31089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653528" y="36576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marketing + organic content built on the data-sovereignty narrative, filling the funnel at scale.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802368" y="192024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88168" y="2194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6" name="Image 4" descr="/home/claude/deck/assets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3047" y="236943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66960" y="310896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On-Ground Activations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966960" y="36576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expos, JITO conventions, campus fests, and a flagship celebrity launch event.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30" name="Text 23"/>
          <p:cNvSpPr/>
          <p:nvPr/>
        </p:nvSpPr>
        <p:spPr>
          <a:xfrm>
            <a:off x="868680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Year 1-3 combined signups: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206240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20624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~350K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6675120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67512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~1.1M</a:t>
            </a:r>
            <a:endParaRPr lang="en-US" sz="2200" dirty="0"/>
          </a:p>
        </p:txBody>
      </p:sp>
      <p:sp>
        <p:nvSpPr>
          <p:cNvPr id="35" name="Text 28"/>
          <p:cNvSpPr/>
          <p:nvPr/>
        </p:nvSpPr>
        <p:spPr>
          <a:xfrm>
            <a:off x="9144000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914400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~2.8M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de-risked build, not a first-time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pic>
        <p:nvPicPr>
          <p:cNvPr id="5" name="Image 0" descr="/home/claude/deck/assets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track record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88036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7706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 of entrepreneurship across PropTech, facility management &amp; AI-enabled enterprise solutions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6576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5478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of GoPhygital / Lockated — profitable, ~Rs 5 Cr ARR, 60 employees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434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251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technical team already building the Life Blueprint beta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52120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51023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 features across 13 modules fully scoped and in active development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192024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269748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24345C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2770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46520" y="30266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Beta-stage build across all 13 modules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356616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24345C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46520" y="3895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stage — vendor &amp; prototype evaluation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443484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24345C"/>
          </a:solidFill>
          <a:ln/>
        </p:spPr>
      </p:sp>
      <p:sp>
        <p:nvSpPr>
          <p:cNvPr id="24" name="Text 21"/>
          <p:cNvSpPr/>
          <p:nvPr/>
        </p:nvSpPr>
        <p:spPr>
          <a:xfrm>
            <a:off x="6446520" y="4507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46520" y="4764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— zero paying users, by design at this stage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530352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24345C"/>
          </a:solidFill>
          <a:ln/>
        </p:spPr>
      </p:sp>
      <p:sp>
        <p:nvSpPr>
          <p:cNvPr id="27" name="Text 24"/>
          <p:cNvSpPr/>
          <p:nvPr/>
        </p:nvSpPr>
        <p:spPr>
          <a:xfrm>
            <a:off x="6446520" y="5376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46520" y="56327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Community, celebrity &amp; university partnerships in scoping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owns one pillar. We own the integration.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7452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disrupts the category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0" y="26060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2478024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benchmarked competitor grows via paid media, single-domain endorsement, or enterprise procurement.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77647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648456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grow via trust-based, largely non-cash distribution — community, celebrity equity, universities.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946904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81888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structurally harder to copy without an ad- or cross-sell-funded competitor eroding its own margins.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data-sovereignty proof to a category-first hardware companion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2000" dirty="0"/>
          </a:p>
        </p:txBody>
      </p:sp>
      <p:pic>
        <p:nvPicPr>
          <p:cNvPr id="7" name="Image 0" descr="/home/claude/deck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2644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audit &amp; certification</a:t>
            </a:r>
            <a:endParaRPr lang="en-US" sz="1150" dirty="0"/>
          </a:p>
        </p:txBody>
      </p:sp>
      <p:pic>
        <p:nvPicPr>
          <p:cNvPr id="9" name="Image 1" descr="/home/claude/deck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Privacy Ledger</a:t>
            </a:r>
            <a:endParaRPr lang="en-US" sz="1150" dirty="0"/>
          </a:p>
        </p:txBody>
      </p:sp>
      <p:pic>
        <p:nvPicPr>
          <p:cNvPr id="11" name="Image 2" descr="/home/claude/deck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920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818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UX for 50+ users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34340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61772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617720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2000" dirty="0"/>
          </a:p>
        </p:txBody>
      </p:sp>
      <p:pic>
        <p:nvPicPr>
          <p:cNvPr id="16" name="Image 3" descr="/home/claude/deck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3375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65192" y="32644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Planner OS</a:t>
            </a:r>
            <a:endParaRPr lang="en-US" sz="1150" dirty="0"/>
          </a:p>
        </p:txBody>
      </p:sp>
      <p:pic>
        <p:nvPicPr>
          <p:cNvPr id="18" name="Image 4" descr="/home/claude/deck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1148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5192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enterprise admin layer</a:t>
            </a:r>
            <a:endParaRPr lang="en-US" sz="1150" dirty="0"/>
          </a:p>
        </p:txBody>
      </p:sp>
      <p:pic>
        <p:nvPicPr>
          <p:cNvPr id="20" name="Image 5" descr="/home/claude/deck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89204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65192" y="4818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Family/household Vault sharing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813816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84124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6-18 MONTHS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8412480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Medium-Term</a:t>
            </a:r>
            <a:endParaRPr lang="en-US" sz="2000" dirty="0"/>
          </a:p>
        </p:txBody>
      </p:sp>
      <p:pic>
        <p:nvPicPr>
          <p:cNvPr id="25" name="Image 6" descr="/home/claude/deck/assets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33756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759952" y="32644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+ AI audio companion</a:t>
            </a:r>
            <a:endParaRPr lang="en-US" sz="1150" dirty="0"/>
          </a:p>
        </p:txBody>
      </p:sp>
      <p:pic>
        <p:nvPicPr>
          <p:cNvPr id="27" name="Image 7" descr="/home/claude/deck/assets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14800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759952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enterprise console</a:t>
            </a:r>
            <a:endParaRPr lang="en-US" sz="1150" dirty="0"/>
          </a:p>
        </p:txBody>
      </p:sp>
      <p:pic>
        <p:nvPicPr>
          <p:cNvPr id="29" name="Image 8" descr="/home/claude/deck/assets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892040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759952" y="4818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GCC / UK / US / EU localisation</a:t>
            </a:r>
            <a:endParaRPr lang="en-US" sz="1150" dirty="0"/>
          </a:p>
        </p:txBody>
      </p:sp>
      <p:sp>
        <p:nvSpPr>
          <p:cNvPr id="31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operator's second product line, not a first-time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24345C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468880"/>
            <a:ext cx="1920240" cy="19202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4688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&amp; CEO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GoPhygital Innovations (Lockated)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7086600" cy="3931920"/>
          </a:xfrm>
          <a:prstGeom prst="roundRect">
            <a:avLst>
              <a:gd name="adj" fmla="val 1860"/>
            </a:avLst>
          </a:prstGeom>
          <a:solidFill>
            <a:srgbClr val="24345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years of entrepreneurship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301752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28986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of a bootstrapped, profitable PropTech and B2B SaaS company (~Rs 5 Cr ARR, 60 employees, nine business verticals)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73075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5102352" y="36118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operating experience across PropTech, facility management, workplace technology, and AI-enabled enterprise solutions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444398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432511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leading the in-house technical team building the Life Blueprint beta — this raise accelerates an execution already underway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515721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503834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in Finance; extensive community and professional network across India and GCC markets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GTM-driven growth, with hardware attach turning the curve in Year 3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87452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SNAPSHOT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(cum.)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subscribers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12480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attach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087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/ 29.4K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0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0" y="4745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$27.6M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12480" y="5148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54041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$16.8M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model. Year 3 upside is execution-dependent on hardware attach and reaching the $10/mo pricing cap — treat as an upside case, not a guaranteed base case.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 Seed, in two milestone-gated tranches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82880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Tranche 1 · ~$1.5-2M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software build, ship AI cross-life insights, acquire the first 25-50K users with real engagement data.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393192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Tranche 2 · ~$3-3.5M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usage/retention milestones: AI Planner OS completion, hardware R&amp;D initiation, GCC expansion prep.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3" name="Image 0" descr="/home/claude/deck/assets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operating system for how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live their whole life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21792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their own terms. With their data always working for them — never against them.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1792" y="484632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846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Chetan Bafna  ·  Founder &amp; CEO  ·  GoPhygital Innovations Pvt. Ltd.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2026-07-26T14:59:35Z</dcterms:created>
  <dcterms:modified xsi:type="dcterms:W3CDTF">2026-07-26T14:59:35Z</dcterms:modified>
</cp:coreProperties>
</file>